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(₹)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4E7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DB7D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DB7D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DB7D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DB7D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DB7D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DB7D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9DB7D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9DB7D0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9DB7D0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Cheese</c:v>
                  </c:pt>
                  <c:pt idx="1">
                    <c:v>Coffee</c:v>
                  </c:pt>
                  <c:pt idx="2">
                    <c:v>Shampoo</c:v>
                  </c:pt>
                  <c:pt idx="3">
                    <c:v>Cooking Oil</c:v>
                  </c:pt>
                  <c:pt idx="4">
                    <c:v>Tea</c:v>
                  </c:pt>
                  <c:pt idx="5">
                    <c:v>Apples</c:v>
                  </c:pt>
                  <c:pt idx="6">
                    <c:v>Face Wash</c:v>
                  </c:pt>
                  <c:pt idx="7">
                    <c:v>Rice</c:v>
                  </c:pt>
                  <c:pt idx="8">
                    <c:v>Cold Drink</c:v>
                  </c:pt>
                  <c:pt idx="9">
                    <c:v>Eggs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27906.3</c:v>
                </c:pt>
                <c:pt idx="1">
                  <c:v>27694.87</c:v>
                </c:pt>
                <c:pt idx="2">
                  <c:v>27497.48</c:v>
                </c:pt>
                <c:pt idx="3">
                  <c:v>21525.06</c:v>
                </c:pt>
                <c:pt idx="4">
                  <c:v>17681.59</c:v>
                </c:pt>
                <c:pt idx="5">
                  <c:v>17057.41</c:v>
                </c:pt>
                <c:pt idx="6">
                  <c:v>11946.85</c:v>
                </c:pt>
                <c:pt idx="7">
                  <c:v>11754.17</c:v>
                </c:pt>
                <c:pt idx="8">
                  <c:v>10731.78</c:v>
                </c:pt>
                <c:pt idx="9">
                  <c:v>10429.77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(₹)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4E7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DB7D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DB7D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DB7D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 (Mumbai)</c:v>
                  </c:pt>
                  <c:pt idx="1">
                    <c:v>B (Delhi)</c:v>
                  </c:pt>
                  <c:pt idx="2">
                    <c:v>D (Bengaluru)</c:v>
                  </c:pt>
                  <c:pt idx="3">
                    <c:v>A (Jaipur)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72469.45</c:v>
                </c:pt>
                <c:pt idx="1">
                  <c:v>64116.26</c:v>
                </c:pt>
                <c:pt idx="2">
                  <c:v>55468.29</c:v>
                </c:pt>
                <c:pt idx="3">
                  <c:v>52357.08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(₹)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4E7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DB7D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DB7D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DB7D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DB7D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DB7D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DB7D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9DB7D0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Beverages</c:v>
                  </c:pt>
                  <c:pt idx="1">
                    <c:v>Personal Care</c:v>
                  </c:pt>
                  <c:pt idx="2">
                    <c:v>Dairy</c:v>
                  </c:pt>
                  <c:pt idx="3">
                    <c:v>Grocery</c:v>
                  </c:pt>
                  <c:pt idx="4">
                    <c:v>Fruits</c:v>
                  </c:pt>
                  <c:pt idx="5">
                    <c:v>Snacks</c:v>
                  </c:pt>
                  <c:pt idx="6">
                    <c:v>Vegetables</c:v>
                  </c:pt>
                  <c:pt idx="7">
                    <c:v>Bakery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56108.24</c:v>
                </c:pt>
                <c:pt idx="1">
                  <c:v>45943.96</c:v>
                </c:pt>
                <c:pt idx="2">
                  <c:v>43992</c:v>
                </c:pt>
                <c:pt idx="3">
                  <c:v>40470.47</c:v>
                </c:pt>
                <c:pt idx="4">
                  <c:v>23263.17</c:v>
                </c:pt>
                <c:pt idx="5">
                  <c:v>16992.97</c:v>
                </c:pt>
                <c:pt idx="6">
                  <c:v>11124.17</c:v>
                </c:pt>
                <c:pt idx="7">
                  <c:v>6516.1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4E7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DB7D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DB7D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DB7D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UPI</c:v>
                  </c:pt>
                  <c:pt idx="1">
                    <c:v>Net Banking</c:v>
                  </c:pt>
                  <c:pt idx="2">
                    <c:v>Card</c:v>
                  </c:pt>
                  <c:pt idx="3">
                    <c:v>Cash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127</c:v>
                </c:pt>
                <c:pt idx="1">
                  <c:v>126</c:v>
                </c:pt>
                <c:pt idx="2">
                  <c:v>125</c:v>
                </c:pt>
                <c:pt idx="3">
                  <c:v>122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100"/>
        </c:scaling>
        <c:delete val="0"/>
        <c:axPos val="l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spend (₹)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₹#,##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4E7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DB7D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Member</c:v>
                  </c:pt>
                  <c:pt idx="1">
                    <c:v>Normal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483.14</c:v>
                </c:pt>
                <c:pt idx="1">
                  <c:v>497.07</c:v>
                </c:pt>
              </c:numCache>
            </c:numRef>
          </c:val>
        </c:ser>
        <c:dLbls>
          <c:numFmt formatCode="₹#,##0.0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3.0–3.5</c:v>
                  </c:pt>
                  <c:pt idx="1">
                    <c:v>3.5–4.0</c:v>
                  </c:pt>
                  <c:pt idx="2">
                    <c:v>4.0–4.5</c:v>
                  </c:pt>
                  <c:pt idx="3">
                    <c:v>4.5–5.0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113</c:v>
                </c:pt>
                <c:pt idx="1">
                  <c:v>121</c:v>
                </c:pt>
                <c:pt idx="2">
                  <c:v>127</c:v>
                </c:pt>
                <c:pt idx="3">
                  <c:v>139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Supermarket Sales Analysis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D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  |  IBM Internship Final Project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[Your Name]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and Dataset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analyze supermarket sales data to find useful information about products, branches, categories, customers, payments and ratings.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1920240" cy="1371600"/>
          </a:xfrm>
          <a:prstGeom prst="rect">
            <a:avLst/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1945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926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0" y="2103120"/>
            <a:ext cx="1920240" cy="1371600"/>
          </a:xfrm>
          <a:prstGeom prst="rect">
            <a:avLst/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21945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926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2103120"/>
            <a:ext cx="1920240" cy="1371600"/>
          </a:xfrm>
          <a:prstGeom prst="rect">
            <a:avLst/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21945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926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766560" y="2103120"/>
            <a:ext cx="1920240" cy="1371600"/>
          </a:xfrm>
          <a:prstGeom prst="rect">
            <a:avLst/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6560" y="21945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₹2,44,411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2926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product, category, branch, city, customer type, gender, quantity, unit price, payment method, rating, sales. Period: Jan to Jul 2026.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Used for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0515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CSV dataset in Python (Pandas)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67335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733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missing or incorrect values: none found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2295144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95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29514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Sales = Quantity × Unit Price: matched in all 500 rows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2916936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2916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91693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and summarize using totals, counts and averages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353872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53872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charts to compare results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1605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results to make business decisions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 Sells the Most?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55778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005840"/>
            <a:ext cx="2468880" cy="3749040"/>
          </a:xfrm>
          <a:prstGeom prst="rect">
            <a:avLst/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355080" y="1097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Cheese leads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355080" y="1828800"/>
            <a:ext cx="2194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Cheese: ₹27,906.30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and Shampoo are very close behind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are almost tied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shows top 10 of 20 products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Branch Performs Best?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55778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005840"/>
            <a:ext cx="2468880" cy="3749040"/>
          </a:xfrm>
          <a:prstGeom prst="rect">
            <a:avLst/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355080" y="1097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 (Mumbai) wins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355080" y="1828800"/>
            <a:ext cx="2194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₹72,469.45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 (Jaipur) is lowest at ₹52,357.08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sells about 38% more than Jaipur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Category Sells the Most?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55778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005840"/>
            <a:ext cx="2468880" cy="3749040"/>
          </a:xfrm>
          <a:prstGeom prst="rect">
            <a:avLst/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355080" y="1097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Beverages lead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355080" y="1828800"/>
            <a:ext cx="2194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₹56,108.24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Care and Dairy follow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Bakery is weakest at ₹6,516.10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 Payment Method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55778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005840"/>
            <a:ext cx="2468880" cy="3749040"/>
          </a:xfrm>
          <a:prstGeom prst="rect">
            <a:avLst/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355080" y="1097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is first, barely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355080" y="1828800"/>
            <a:ext cx="2194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UPI: 127 transactions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5 transactions separate UPI and Cash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use all four methods almost equally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starts at 100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Spending and Ratings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38404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343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spend per transaction</a:t>
            </a:r>
            <a:endParaRPr lang="en-US" sz="12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4572000" y="1005840"/>
          <a:ext cx="41148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0" y="4343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distribution (average 3.99 / 5)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do NOT spend more: ₹483.14 vs ₹497.07 for Normal customers.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Decisions and 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0" cy="5486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0058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1005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more Cheese, Coffee, Shampoo and Beverages, Personal Care, Dairy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1645920" cy="5486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66420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286000" y="166420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Branch C and apply it at Branch 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322576"/>
            <a:ext cx="1645920" cy="5486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32257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2322576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supporting UPI, Net Banking, Card and Cash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980944"/>
            <a:ext cx="1645920" cy="5486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298094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286000" y="2980944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offers; Members spend slightly less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639312"/>
            <a:ext cx="1645920" cy="5486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63931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2286000" y="363931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service to lift the 3.99 rating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389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sales data can be turned into simple insights that help a supermarket understand performance and make better decisions.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2026-10-10T05:30:39Z</dcterms:created>
  <dcterms:modified xsi:type="dcterms:W3CDTF">2026-10-10T05:30:39Z</dcterms:modified>
</cp:coreProperties>
</file>